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1c788c2ff4055" /><Relationship Type="http://schemas.openxmlformats.org/officeDocument/2006/relationships/extended-properties" Target="/docProps/app.xml" Id="R73b2ca570a0e41a1" /><Relationship Type="http://schemas.openxmlformats.org/officeDocument/2006/relationships/officeDocument" Target="/ppt/presentation.xml" Id="R7c6592cbb2514c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eb6ac26a14c36"/>
  </p:sldMasterIdLst>
  <p:notesMasterIdLst>
    <p:notesMasterId xmlns:r="http://schemas.openxmlformats.org/officeDocument/2006/relationships" r:id="Ra3b0e3c5716b4726"/>
  </p:notesMasterIdLst>
  <p:sldIdLst>
    <p:sldId xmlns:r="http://schemas.openxmlformats.org/officeDocument/2006/relationships" id="256" r:id="Rd6aa1280c42446c3"/>
    <p:sldId xmlns:r="http://schemas.openxmlformats.org/officeDocument/2006/relationships" id="257" r:id="Rf871584d9f7e47ca"/>
    <p:sldId xmlns:r="http://schemas.openxmlformats.org/officeDocument/2006/relationships" id="258" r:id="Radcdc09280af4e79"/>
    <p:sldId xmlns:r="http://schemas.openxmlformats.org/officeDocument/2006/relationships" id="259" r:id="R85b75dfd3a224a3b"/>
    <p:sldId xmlns:r="http://schemas.openxmlformats.org/officeDocument/2006/relationships" id="260" r:id="R8bd60c477fd54ddd"/>
    <p:sldId xmlns:r="http://schemas.openxmlformats.org/officeDocument/2006/relationships" id="261" r:id="R761dec4582fc40d9"/>
    <p:sldId xmlns:r="http://schemas.openxmlformats.org/officeDocument/2006/relationships" id="262" r:id="R46eed58663f949c9"/>
    <p:sldId xmlns:r="http://schemas.openxmlformats.org/officeDocument/2006/relationships" id="263" r:id="R067d69bdca4f454d"/>
    <p:sldId xmlns:r="http://schemas.openxmlformats.org/officeDocument/2006/relationships" id="264" r:id="Re5aabc73744c4da2"/>
    <p:sldId xmlns:r="http://schemas.openxmlformats.org/officeDocument/2006/relationships" id="265" r:id="Rbbc00e898e3747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58a42d866486b" /><Relationship Type="http://schemas.openxmlformats.org/officeDocument/2006/relationships/slideMaster" Target="/ppt/slideMasters/slideMaster1.xml" Id="R26ceb6ac26a14c36" /><Relationship Type="http://schemas.openxmlformats.org/officeDocument/2006/relationships/notesMaster" Target="/ppt/notesMasters/notesMaster1.xml" Id="Ra3b0e3c5716b4726" /><Relationship Type="http://schemas.openxmlformats.org/officeDocument/2006/relationships/presProps" Target="/ppt/presProps.xml" Id="Re42fa434886d4648" /><Relationship Type="http://schemas.openxmlformats.org/officeDocument/2006/relationships/tableStyles" Target="/ppt/tableStyles.xml" Id="R0d7c584f10b045ce" /><Relationship Type="http://schemas.openxmlformats.org/officeDocument/2006/relationships/slide" Target="/ppt/slides/slide1.xml" Id="Rd6aa1280c42446c3" /><Relationship Type="http://schemas.openxmlformats.org/officeDocument/2006/relationships/slide" Target="/ppt/slides/slide2.xml" Id="Rf871584d9f7e47ca" /><Relationship Type="http://schemas.openxmlformats.org/officeDocument/2006/relationships/slide" Target="/ppt/slides/slide3.xml" Id="Radcdc09280af4e79" /><Relationship Type="http://schemas.openxmlformats.org/officeDocument/2006/relationships/slide" Target="/ppt/slides/slide4.xml" Id="R85b75dfd3a224a3b" /><Relationship Type="http://schemas.openxmlformats.org/officeDocument/2006/relationships/slide" Target="/ppt/slides/slide5.xml" Id="R8bd60c477fd54ddd" /><Relationship Type="http://schemas.openxmlformats.org/officeDocument/2006/relationships/slide" Target="/ppt/slides/slide6.xml" Id="R761dec4582fc40d9" /><Relationship Type="http://schemas.openxmlformats.org/officeDocument/2006/relationships/slide" Target="/ppt/slides/slide7.xml" Id="R46eed58663f949c9" /><Relationship Type="http://schemas.openxmlformats.org/officeDocument/2006/relationships/slide" Target="/ppt/slides/slide8.xml" Id="R067d69bdca4f454d" /><Relationship Type="http://schemas.openxmlformats.org/officeDocument/2006/relationships/slide" Target="/ppt/slides/slide9.xml" Id="Re5aabc73744c4da2" /><Relationship Type="http://schemas.openxmlformats.org/officeDocument/2006/relationships/slide" Target="/ppt/slides/slide10.xml" Id="Rbbc00e898e3747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bdc9b4f5f9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b0ca5d6584dcf" /><Relationship Type="http://schemas.openxmlformats.org/officeDocument/2006/relationships/notesMaster" Target="/ppt/notesMasters/notesMaster1.xml" Id="R8109744f8f9e42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81fa10aee143df" /><Relationship Type="http://schemas.openxmlformats.org/officeDocument/2006/relationships/notesMaster" Target="/ppt/notesMasters/notesMaster1.xml" Id="Rcb2ff9c320fd49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8a45a238d4650" /><Relationship Type="http://schemas.openxmlformats.org/officeDocument/2006/relationships/notesMaster" Target="/ppt/notesMasters/notesMaster1.xml" Id="R0eabdf971ebf46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549ae9e4d3471e" /><Relationship Type="http://schemas.openxmlformats.org/officeDocument/2006/relationships/notesMaster" Target="/ppt/notesMasters/notesMaster1.xml" Id="R48cffe134e09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d9fa8eb67d4f71" /><Relationship Type="http://schemas.openxmlformats.org/officeDocument/2006/relationships/notesMaster" Target="/ppt/notesMasters/notesMaster1.xml" Id="Rc4aa4a86987f48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43511c682744c3" /><Relationship Type="http://schemas.openxmlformats.org/officeDocument/2006/relationships/notesMaster" Target="/ppt/notesMasters/notesMaster1.xml" Id="R72c7703be4624b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58b1c3e5f1450f" /><Relationship Type="http://schemas.openxmlformats.org/officeDocument/2006/relationships/notesMaster" Target="/ppt/notesMasters/notesMaster1.xml" Id="Rba343ba031e8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5a7de2dd204314" /><Relationship Type="http://schemas.openxmlformats.org/officeDocument/2006/relationships/notesMaster" Target="/ppt/notesMasters/notesMaster1.xml" Id="R63379552946a4e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77631167d4713" /><Relationship Type="http://schemas.openxmlformats.org/officeDocument/2006/relationships/notesMaster" Target="/ppt/notesMasters/notesMaster1.xml" Id="R695897cc4f994e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0030b16f214a35" /><Relationship Type="http://schemas.openxmlformats.org/officeDocument/2006/relationships/notesMaster" Target="/ppt/notesMasters/notesMaster1.xml" Id="Rea5ff1acfc9347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25376f2da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4ca5ed018d4d02" /><Relationship Type="http://schemas.openxmlformats.org/officeDocument/2006/relationships/slideLayout" Target="/ppt/slideLayouts/slideLayout1.xml" Id="R0e1e026ac5c2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1e026ac5c2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962fd351c48e6" /><Relationship Type="http://schemas.openxmlformats.org/officeDocument/2006/relationships/image" Target="/ppt/media/image.png" Id="R570eb513aba345b1" /><Relationship Type="http://schemas.openxmlformats.org/officeDocument/2006/relationships/notesSlide" Target="/ppt/notesSlides/notesSlide1.xml" Id="R4c8f6825e0b247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94d1016ea46d3" /><Relationship Type="http://schemas.openxmlformats.org/officeDocument/2006/relationships/notesSlide" Target="/ppt/notesSlides/notesSlide2.xml" Id="Rac64890c2b4146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ca8ada68b4e68" /><Relationship Type="http://schemas.openxmlformats.org/officeDocument/2006/relationships/notesSlide" Target="/ppt/notesSlides/notesSlide3.xml" Id="R370f8541996246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97a5a07a84e7b" /><Relationship Type="http://schemas.openxmlformats.org/officeDocument/2006/relationships/notesSlide" Target="/ppt/notesSlides/notesSlide4.xml" Id="R9164c27e3993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f22a5aabf44d8" /><Relationship Type="http://schemas.openxmlformats.org/officeDocument/2006/relationships/notesSlide" Target="/ppt/notesSlides/notesSlide5.xml" Id="R2aa055ffd6fd4c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0fa321dfd4054" /><Relationship Type="http://schemas.openxmlformats.org/officeDocument/2006/relationships/notesSlide" Target="/ppt/notesSlides/notesSlide6.xml" Id="R61482ec2b61a48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1463a2090402c" /><Relationship Type="http://schemas.openxmlformats.org/officeDocument/2006/relationships/notesSlide" Target="/ppt/notesSlides/notesSlide7.xml" Id="R74caac6886eb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36f620a654604" /><Relationship Type="http://schemas.openxmlformats.org/officeDocument/2006/relationships/notesSlide" Target="/ppt/notesSlides/notesSlide8.xml" Id="Rd3ea32c31fd243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9a06334834615" /><Relationship Type="http://schemas.openxmlformats.org/officeDocument/2006/relationships/notesSlide" Target="/ppt/notesSlides/notesSlide9.xml" Id="Rd78496e3c8c142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c6387b58f4b54" /><Relationship Type="http://schemas.openxmlformats.org/officeDocument/2006/relationships/notesSlide" Target="/ppt/notesSlides/notesSlide10.xml" Id="Rf3ee84e358464e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2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52DFE-D5E6-4127-87A0-27803BA2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0735"/>
            <a:ext cx="4381500" cy="18402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28F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AC024-7606-4C66-95D7-F4C76E4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28291"/>
            <a:ext cx="3200400" cy="13441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68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5D7F4-652A-41D2-98D6-85F42B0A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068"/>
          </a:solidFill>
          <a:ln xmlns:a="http://schemas.openxmlformats.org/drawingml/2006/main" w="9525">
            <a:solidFill>
              <a:srgbClr val="DEB06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4D478-C339-4A84-8044-CA0B7768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LIVE DEMO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3255E-7DA9-443E-9C8A-9125E07A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420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Play first.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420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Architecture second.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3CA65-01B1-4EB9-9FCE-F1C51AC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650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The room creates the data: coordinates, collisions, powerups, freezes, and replay moments.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FBB0D-4240-484C-AC95-5B8723D8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657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7060C-0866-484E-90AF-5A47BFFC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240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http://130.162.174.167/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17110-802D-43A1-9D5B-EB62EDDC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1125" b="0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Open on mobile. The agent will use the event stream you generate.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eb513aba345b1"/>
          <a:stretch xmlns:a="http://schemas.openxmlformats.org/drawingml/2006/main"/>
        </p:blipFill>
        <p:spPr>
          <a:xfrm xmlns:a="http://schemas.openxmlformats.org/drawingml/2006/main">
            <a:off x="7524750" y="163830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EC7C2-F0A6-43EF-897F-44206E2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863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1575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Scan to 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8C2E5-810B-4BCD-857B-101587B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8E3ED-5E04-46B0-B619-4B13F20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9773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E5F0B-2222-4777-9690-C713E106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MATCH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99C4B-5DF5-4DB9-B3B1-453625C2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A game that emits agent-ready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EDB26-D865-4177-A8CD-63623F00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The important product is not the score. It is the live event ledger.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1BD66-9C88-49E0-AB23-BE90365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13BA1-0D98-47CF-A54B-FDFF70A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93E28-288F-47D7-9256-E85D7D4E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257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F1748-DD32-4089-A69E-18FE43B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game_started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F1218-A08D-44AD-9734-53FEF3D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7173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26B31-34A4-475A-AFE0-C80D98F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81313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D1D61-773E-44CF-A11E-406285C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325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68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83318-339A-4827-9D8E-4060CB1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19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position_sample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29D12-E1CB-4B2C-AAA2-47BC848C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8C"/>
          </a:solidFill>
          <a:ln xmlns:a="http://schemas.openxmlformats.org/drawingml/2006/main" w="9525">
            <a:solidFill>
              <a:srgbClr val="0068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4B6D1-7A22-41CF-8DB2-6821EC7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81313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62358-FCB1-4C14-90B4-837E05E0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1676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B0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A830D-2A9E-4C23-8890-A33E66EA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powerup_collected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4D60F-52D5-48B3-87E8-FB3C0605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068"/>
          </a:solidFill>
          <a:ln xmlns:a="http://schemas.openxmlformats.org/drawingml/2006/main" w="9525">
            <a:solidFill>
              <a:srgbClr val="DEB0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4E83A-66A6-43C0-B686-375200D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81313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85AA3-7A18-4850-AA26-2D084AF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A2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A64BE-152F-4F4B-987E-F984D54E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trail_crossed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2EDB3-4E07-486E-A448-0A4E227A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A2BA"/>
          </a:solidFill>
          <a:ln xmlns:a="http://schemas.openxmlformats.org/drawingml/2006/main" w="9525">
            <a:solidFill>
              <a:srgbClr val="5FA2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17D1F-4009-4F63-A3D0-03D803A1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881313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167CD-7261-4E9B-AA82-A117C99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609BA-FDC5-4C37-A1D4-A36AE31F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player_frozen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8E93D-428D-41E9-9F21-9FA97AA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926D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0B508-BF08-481D-BF01-ED21799E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81313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F674C-648D-42C0-9E6D-975CBBFE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1200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E8A5D-D9C5-474E-8E77-B2A3BC6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19450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replay_clip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1853FF-8DA7-40E2-ACDA-ED377B9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5D61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E6B40F-B50A-45EA-BDE2-8ABFC515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81313"/>
            <a:ext cx="1019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A369E1-DC92-4C04-BE85-2636892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1143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A2F2F"/>
          </a:solidFill>
          <a:ln xmlns:a="http://schemas.openxmlformats.org/drawingml/2006/main" w="9525">
            <a:solidFill>
              <a:srgbClr val="2A2F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781EC5-4FDD-4D17-8C43-349E6BA6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9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game_over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2F21CE-E9A1-46AF-A737-268A59A4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38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2F"/>
          </a:solidFill>
          <a:ln xmlns:a="http://schemas.openxmlformats.org/drawingml/2006/main" w="9525">
            <a:solidFill>
              <a:srgbClr val="2A2F2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9B916-D098-4E39-B709-FDBAE78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9753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96BB8F-D829-4AE8-BE2F-B58B6FDD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941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STWL_GAME_EVENTS</a:t>
            </a:r>
          </a:p>
          <a:p xmlns:a="http://schemas.openxmlformats.org/drawingml/2006/main">
            <a:pPr algn="l">
              <a:def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session_id | room_id | player_id | event_type | event_ts</a:t>
            </a:r>
          </a:p>
          <a:p xmlns:a="http://schemas.openxmlformats.org/drawingml/2006/main">
            <a:pPr algn="l">
              <a:def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score | x | y | z | related_player_id | related_item_id | metadata 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6E0311-236A-49DD-9867-E5B4362F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81650"/>
            <a:ext cx="906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57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Powerups, trails, freezes and coordinates are first-class facts.</a:t>
            </a:r>
          </a:p>
        </p:txBody>
      </p:sp>
    </p:spTree>
    <p:extLst>
      <p:ext uri="{BB962C8B-B14F-4D97-AF65-F5344CB8AC3E}">
        <p14:creationId xmlns:p14="http://schemas.microsoft.com/office/powerpoint/2010/main" val="2020298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A2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7B5D8-58C5-4850-80C6-90DC037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EDAA3-01A6-4EB5-ACBC-D4C03E9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The model does not watch raw footage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6AA4F-F971-476A-B85D-D9E95A08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Telemetry explains what happened. Replay shows it. The agent receives bounded evidence and clip pointers.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63C5C-BD34-4DA9-933C-8CC13C8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F3662-E6D9-4ED4-84D5-CEB6B26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60BF6-1837-4219-A8E2-110ECC1C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2209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4A563-E322-4DCF-8FEB-61293CBA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SQL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FDBDC-CB7D-439F-8A38-95FAE58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authoritative match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8FE38-CD04-4BA2-9C6E-5EDA00B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2209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0068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DFCE1-531D-45F5-A52E-8F1C6EF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JSON replay docs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7C57B-6698-4395-AD1B-FB270E9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33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flexible clip payloads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BE31D-6AEA-4F36-87EF-420DE661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209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5C92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9525E-9DFB-4E0C-B23C-474B7291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Graph 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E8006-69A8-4A3F-8A42-0FF5A4E3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who caused what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B61A1-A4C9-4FE8-B114-2B2D2D25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22098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DEB0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C51A8-5CC1-4B5B-8AD9-3180029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Vector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8C89-B271-4BA9-B418-2F8F5F5B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125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similar moments when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0A134-B4EB-4DC2-A149-A5BF205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86350"/>
            <a:ext cx="826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1725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Do not say: "the LLM watched the game." Say: "the harness retrieved evidence."</a:t>
            </a:r>
          </a:p>
        </p:txBody>
      </p:sp>
    </p:spTree>
    <p:extLst>
      <p:ext uri="{BB962C8B-B14F-4D97-AF65-F5344CB8AC3E}">
        <p14:creationId xmlns:p14="http://schemas.microsoft.com/office/powerpoint/2010/main" val="1479440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0CFB4-08DE-46AD-97E0-018DD93B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C53C-FFBC-4E24-9FA6-C817A27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Evidence first. Model last.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0A93C-24BC-49F0-98F8-A460D44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Explicit SQL builds context before any creative phrasing happens.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242D3-96FE-4DF9-BFB1-92D0CF6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39907-3FF5-41F2-8092-E9E8CB63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9A29D-F5AE-4B1B-BE78-258BA574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1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A2F2F"/>
          </a:solidFill>
          <a:ln xmlns:a="http://schemas.openxmlformats.org/drawingml/2006/main" w="9525">
            <a:solidFill>
              <a:srgbClr val="2A2F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B37A9-E2B1-4B58-BB84-966EECB1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29ED8-23CE-4FF6-90D7-7E9C13B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28950"/>
            <a:ext cx="121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75D61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E284-DCBF-4250-91EE-9163568E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040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ws-server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0039E-2912-46FD-84D6-A4291441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5C926D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D0741-0BEC-4AE3-946F-D7A0977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0040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Coherence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A9D15-26CD-46B7-B694-18B230C5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75D61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8F34A-95D7-462E-BB56-CAF2B7D5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Score / 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68B37-A1A3-4BC6-B7FA-74042AA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5049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0688C"/>
          </a:solidFill>
          <a:ln xmlns:a="http://schemas.openxmlformats.org/drawingml/2006/main" w="9525">
            <a:solidFill>
              <a:srgbClr val="0068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334B-24CB-4598-B071-91C89BC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004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Oracle AI 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33C6E-D84E-43FA-A6DB-64612473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123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75D61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4D504-3A72-4BC1-9A53-CF70CDB3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0040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PAF harness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8AFB6-E20F-48D3-9AB6-0E5D380A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28950"/>
            <a:ext cx="1428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A2F2F"/>
          </a:solidFill>
          <a:ln xmlns:a="http://schemas.openxmlformats.org/drawingml/2006/main" w="9525">
            <a:solidFill>
              <a:srgbClr val="2A2F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FC3B8-2659-43A8-A671-0B61B760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00400"/>
            <a:ext cx="127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commentary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A7528-6B55-4355-8EAB-AC009D8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28988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C3E4B-B587-4320-BA25-EB1B584E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28988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69CD5-97D2-4FD4-8E13-66AB67DE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28988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A2069-EF28-4D5B-AF42-A8EA9FED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8988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4286A-58B0-4301-8348-C57DA173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28988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96265-659A-434F-8E69-A6CC2691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28988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AF595-687B-4527-9626-7D2E089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4350"/>
            <a:ext cx="7543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B758B3-5B54-4A3C-BEAF-8D3F980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7353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Socket.IO fanout uses Coherence. No Redis tier in the runtime path.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A532B-2474-42B1-AFD0-438F565F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244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65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Bounded live output: under 200 characters, profanity guard, source metadata, trace persistence.</a:t>
            </a:r>
          </a:p>
        </p:txBody>
      </p:sp>
    </p:spTree>
    <p:extLst>
      <p:ext uri="{BB962C8B-B14F-4D97-AF65-F5344CB8AC3E}">
        <p14:creationId xmlns:p14="http://schemas.microsoft.com/office/powerpoint/2010/main" val="976158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1329D-89A8-4C17-B0BD-6D9CB001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CBE7-56DA-4A2A-9F12-A925FC38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Commentary from the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00E78-9121-45E9-A85F-113416B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Read the metadata as loudly as the line. It tells you what produced this exact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612C1-70AB-48E7-A9D6-6AB07DED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8307B-62AE-403C-9695-7D1474A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1C4D4-A495-4416-9F31-1AA3E60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60960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7743A-FDE7-40A2-A660-80F40B6C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57531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POST /paf/api/commentary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line: "Ada finished on 42 points with DB evidence in view; the base model stayed cautious."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source: oci-base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fallback_source: oracle-sql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runtime_mode: behavior-adapter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canvas: null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in_db_agent: null</a:t>
            </a:r>
          </a:p>
          <a:p xmlns:a="http://schemas.openxmlformats.org/drawingml/2006/main">
            <a:pPr algn="l">
              <a:def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BFB"/>
                </a:solidFill>
                <a:latin typeface="Aptos Mono"/>
                <a:ea typeface="Aptos Mono"/>
                <a:cs typeface="Aptos Mono"/>
              </a:rPr>
              <a:t>trace_persisted: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7B49C-15E1-47D2-AC01-2111E768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0E14F-5098-4A28-A84C-C287265F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05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Safe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8BC56-CA30-4251-8D31-E285A28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PAF is wired.</a:t>
            </a:r>
          </a:p>
          <a:p xmlns:a="http://schemas.openxmlformats.org/drawingml/2006/main">
            <a:pPr algn="ctr">
              <a:defRPr sz="13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The harness proves the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52071-B354-4CF4-B7E2-A5995D83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24300"/>
            <a:ext cx="3429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EFED"/>
          </a:solidFill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56EAF-EB1F-4D68-95C3-65285D8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4634"/>
                </a:solidFill>
                <a:latin typeface="Oracle Sans"/>
                <a:ea typeface="Oracle Sans"/>
                <a:cs typeface="Oracle Sans"/>
              </a:defRPr>
            </a:pPr>
            <a:r>
              <a:rPr sz="1050" b="1">
                <a:solidFill>
                  <a:srgbClr val="C74634"/>
                </a:solidFill>
                <a:latin typeface="Oracle Sans"/>
                <a:ea typeface="Oracle Sans"/>
                <a:cs typeface="Oracle Sans"/>
              </a:rPr>
              <a:t>Gated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7977D-BF63-4F07-BDC7-C46D88F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386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27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No Canvas or in-db claim while response metadata is null.</a:t>
            </a:r>
          </a:p>
        </p:txBody>
      </p:sp>
    </p:spTree>
    <p:extLst>
      <p:ext uri="{BB962C8B-B14F-4D97-AF65-F5344CB8AC3E}">
        <p14:creationId xmlns:p14="http://schemas.microsoft.com/office/powerpoint/2010/main" val="1772463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A2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E3176D-3543-4EA2-AE93-FA3EE7C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ORACLE PRIVATE AGENT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AADE9-F585-4929-B18B-728E33BA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300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Canvas shapes. Harness proves.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67EA6-9B03-4D47-85A7-575EC7E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Business users shape the agent surface; engineering owns evidence, policy, fallback and live-system connection.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6E539-8B38-4345-9718-69720710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F1742-BA99-4924-9C77-65221D0E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2157F-6AE7-43F9-BC09-3DC457A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10858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0068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AF5E5-B94F-48D5-937B-B83C68E5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91B04-3542-4A80-8EC1-C13E1FAF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62300"/>
            <a:ext cx="1200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51AC5-6A44-41DF-8C1B-3E213EC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52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ws-server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4C028-65B0-459C-AA4D-432E2F4B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623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ACDF9-1F5F-44A3-8BB0-65A022B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528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12C67-D7A9-4AA2-BB5F-817B0F1E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066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5D49D-A67E-4662-9AA4-06F56F2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01DA1-83CA-41D2-B842-B4B21C9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16573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5C92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F4F52-C984-4671-9006-5A09049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528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Oracle AI 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D5992-6597-4C6C-A0FE-0F8A22AE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62300"/>
            <a:ext cx="1924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DEB0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B80EF-14BB-4EDD-A4D0-ADACB2F7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private-agent-factory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DBD39-D975-46AE-87B0-94512AEF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925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725" b="1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PAF health reports Oracle, GenAI, Canvas, Select AI, in-db agent path, graph/replay/vector retrieval, and router config.</a:t>
            </a:r>
          </a:p>
        </p:txBody>
      </p:sp>
    </p:spTree>
    <p:extLst>
      <p:ext uri="{BB962C8B-B14F-4D97-AF65-F5344CB8AC3E}">
        <p14:creationId xmlns:p14="http://schemas.microsoft.com/office/powerpoint/2010/main" val="27070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5EB65-3EDF-4F72-A4DF-A364F1E2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AGENT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3D553-5DB7-430E-8549-A30A05D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Agent = Model + Harness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F54D-F53A-42B3-B5DC-C4CD6779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The model emits tokens. The harness owns the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6017D-4DFE-4F72-9402-B514215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A758-3E6C-4C18-A733-92B23BDD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184AC-3175-4378-BADD-478DC065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1315"/>
            <a:ext cx="5143500" cy="216027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2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C745C-036D-4F27-870B-8855D5B1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57347"/>
            <a:ext cx="3924300" cy="164820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FA2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542DA-D902-49FA-8C2E-AF179E27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667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Model</a:t>
            </a:r>
          </a:p>
          <a:p xmlns:a="http://schemas.openxmlformats.org/drawingml/2006/main">
            <a:pPr algn="ctr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+</a:t>
            </a:r>
          </a:p>
          <a:p xmlns:a="http://schemas.openxmlformats.org/drawingml/2006/main">
            <a:pPr algn="ctr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18438-8468-4DE5-A5B9-570D757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0030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75D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B66C-4F75-43C2-A7A4-4AB6AA49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765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C7560-AC58-4D19-AC17-825A7E82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1465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B0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D49E9-B44A-4276-84F8-B4C88803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908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03E04-D6CF-42A4-BEF5-BFFA850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71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8888E-90DC-46C0-BE7A-4C624AE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0587A-50FF-43E1-A4B1-728F6117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688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2FD5D-637D-4A5B-A107-27D867EC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94D00-5714-4968-A5D7-02FE20D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688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EA021-BA25-4781-B871-0046CCA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63FA8-549D-43AE-A918-C37869D5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1970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9CA70-AE1D-4379-9722-75C16FC2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AD4E9-8CAF-445C-B837-64497023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92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6B527-7753-4F75-8A0F-F51EE3B1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budgets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A1E94-D9D0-480E-A986-36E6540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562600"/>
            <a:ext cx="1200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46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4D6EA-0B2B-4A35-9F52-09656A0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638800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1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safety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EF8D6-03E7-47E8-88E2-561F1C12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019800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5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A bigger context window is not memory. A vector table is not memory.</a:t>
            </a:r>
          </a:p>
        </p:txBody>
      </p:sp>
    </p:spTree>
    <p:extLst>
      <p:ext uri="{BB962C8B-B14F-4D97-AF65-F5344CB8AC3E}">
        <p14:creationId xmlns:p14="http://schemas.microsoft.com/office/powerpoint/2010/main" val="1643469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0D662-F1AC-4917-8984-B00F346C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PATTERN TRANSFER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1CEE-157B-4B8F-8236-75EF1F5B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00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The game pattern becomes an enterprise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3B8B-F490-4F98-9B7C-D4EB451A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Same harness shape. Different event stream.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B65C6-A673-4934-8FE1-7B0CC6F4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3D6B9-94A6-481D-A169-3F303D0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59DE0-EE22-41DC-8889-C3B7EEF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9525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D4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6D80F-50B3-4412-B81D-6C986C61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76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Game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989BE-CC69-47DC-A0F6-BEF38DC9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1BA5D-0DB4-4C21-97F4-B6972B1C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Business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13645-5AB3-495F-B336-A777DB8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0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D"/>
          </a:solidFill>
          <a:ln xmlns:a="http://schemas.openxmlformats.org/drawingml/2006/main" w="0">
            <a:solidFill>
              <a:srgbClr val="F1E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31455-F02E-4D4B-B5B2-0F03FC23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38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Replay clips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8B7EB-7FAA-4659-A1C1-21ECBE6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38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2E053-A1D2-4578-BAC1-6C1675F4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Media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BC098-0B52-4BF5-A513-34417C0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004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SQL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1FF53-D026-4962-B790-01029EE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4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6E3C7-B7D0-464D-9CBD-2B4C8A89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Governed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065F8-4CB2-4D65-8C4B-0F5EB69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D"/>
          </a:solidFill>
          <a:ln xmlns:a="http://schemas.openxmlformats.org/drawingml/2006/main" w="0">
            <a:solidFill>
              <a:srgbClr val="F1EF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0A5FE-73B6-42D2-9CC4-F272076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62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Graph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F5705-E246-41BF-876A-46416AC8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94497-4B8C-495B-ABC1-5AC3513E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623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Relationship and cause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A6135B-FC54-4467-8816-F86A2015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24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Vector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1E350-1F81-4C17-BC47-4386A54A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24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0448D-740D-4E28-8340-F6B38FC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Similar prior moments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0BE7C-7636-4D92-B74A-5160A90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D"/>
          </a:solidFill>
          <a:ln xmlns:a="http://schemas.openxmlformats.org/drawingml/2006/main" w="0">
            <a:solidFill>
              <a:srgbClr val="F1E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53503-C01A-471F-9036-BA80DF9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86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Select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D04B7-C25D-40E8-A353-3D269B2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862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2F319-A54F-4B8C-A3C1-FEDE588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Natural-language data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33C862-BAFD-414F-A1B5-802D3C1A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PAF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DB7E1-7BE9-495C-BF10-D2088709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7EC84-D783-4E6D-A0AA-E1D60A08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4820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Business-shaped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77634-7F3C-44F0-8CCB-60EBE0B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D"/>
          </a:solidFill>
          <a:ln xmlns:a="http://schemas.openxmlformats.org/drawingml/2006/main" w="0">
            <a:solidFill>
              <a:srgbClr val="F1EF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9A64B2-6976-47CE-8584-065162E3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Output guard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849B3-9889-4921-8225-15532F27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135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-&gt;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A28087-EC3E-4DF5-98AD-BC32241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425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Policy and safety</a:t>
            </a:r>
          </a:p>
        </p:txBody>
      </p:sp>
    </p:spTree>
    <p:extLst>
      <p:ext uri="{BB962C8B-B14F-4D97-AF65-F5344CB8AC3E}">
        <p14:creationId xmlns:p14="http://schemas.microsoft.com/office/powerpoint/2010/main" val="270184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F2091-701C-440C-8468-CA4F803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DEVELOPER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8E661-78DF-4FF7-962C-BBE1DDD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31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The notebooks are the CTA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47489-1CA3-484B-8F9C-F50F69F8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500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The game is the front door. The notebooks are the runnable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5DEEE-FDF8-471D-B1C2-7E4B2BCB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83C61-D95F-4DE1-B798-A01A791B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697778"/>
                </a:solidFill>
                <a:latin typeface="Oracle Sans"/>
                <a:ea typeface="Oracle Sans"/>
                <a:cs typeface="Oracle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2D76A-9400-467A-86E0-E3D1F89E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8956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46377-BD57-4DDB-8F62-42685C09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67173"/>
                </a:solidFill>
                <a:latin typeface="Oracle Sans"/>
                <a:ea typeface="Oracle Sans"/>
                <a:cs typeface="Oracle Sans"/>
              </a:defRPr>
            </a:pPr>
            <a:r>
              <a:rPr sz="2100" b="1">
                <a:solidFill>
                  <a:srgbClr val="467173"/>
                </a:solidFill>
                <a:latin typeface="Oracle Sans"/>
                <a:ea typeface="Oracle Sans"/>
                <a:cs typeface="Oracle Sa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3AADC-32A6-497B-B2A0-60599F65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337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Enterprise Data Agent 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02E6A-6C05-4AA4-887B-F016A6B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Build memory, tools, scratchpad, traces, identity and budgets.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B5BDD-14B1-4831-94C8-778EDAF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956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463CC9-2590-4701-AB15-BCF0871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88C"/>
                </a:solidFill>
                <a:latin typeface="Oracle Sans"/>
                <a:ea typeface="Oracle Sans"/>
                <a:cs typeface="Oracle Sans"/>
              </a:defRPr>
            </a:pPr>
            <a:r>
              <a:rPr sz="2100" b="1">
                <a:solidFill>
                  <a:srgbClr val="00688C"/>
                </a:solidFill>
                <a:latin typeface="Oracle Sans"/>
                <a:ea typeface="Oracle Sans"/>
                <a:cs typeface="Oracle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37339-1AB9-46D0-9089-4D7B1A3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Memory and Context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6D6F7-4F17-407C-9B45-12E20C3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Decide what enters the model window and what stays durable.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22B15-8E21-4090-B942-27E6C965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28956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C92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C8EC8-79A4-40BC-9845-6274AB51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146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926D"/>
                </a:solidFill>
                <a:latin typeface="Oracle Sans"/>
                <a:ea typeface="Oracle Sans"/>
                <a:cs typeface="Oracle Sans"/>
              </a:defRPr>
            </a:pPr>
            <a:r>
              <a:rPr sz="2100" b="1">
                <a:solidFill>
                  <a:srgbClr val="5C926D"/>
                </a:solidFill>
                <a:latin typeface="Oracle Sans"/>
                <a:ea typeface="Oracle Sans"/>
                <a:cs typeface="Oracle Sa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DB807-CEA8-48DF-ACA6-216DBE9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defRPr>
            </a:pPr>
            <a:r>
              <a:rPr sz="1650" b="1">
                <a:solidFill>
                  <a:srgbClr val="2A2F2F"/>
                </a:solidFill>
                <a:latin typeface="Oracle Sans"/>
                <a:ea typeface="Oracle Sans"/>
                <a:cs typeface="Oracle Sans"/>
              </a:rPr>
              <a:t>Long Conversation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4ABC3-736B-433C-8BA5-29F1299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defRPr>
            </a:pPr>
            <a:r>
              <a:rPr sz="1275" b="0">
                <a:solidFill>
                  <a:srgbClr val="3C4545"/>
                </a:solidFill>
                <a:latin typeface="Oracle Sans"/>
                <a:ea typeface="Oracle Sans"/>
                <a:cs typeface="Oracle Sans"/>
              </a:rPr>
              <a:t>Prove scoped retrieval, rolling summaries and leakage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93D6B-BD41-4051-800B-B0992B6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5D61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375D61"/>
                </a:solidFill>
                <a:latin typeface="Oracle Sans"/>
                <a:ea typeface="Oracle Sans"/>
                <a:cs typeface="Oracle Sans"/>
              </a:rPr>
              <a:t>Build the harness. Engineer memory. Master long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18714680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A2F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9F54F-70C3-4206-ACED-2D36398D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90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CALL TO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EC086-5F41-41D5-B5CB-C453E763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219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435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Build agents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4350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around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59A1B-F72E-42CE-861A-6A7AF852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165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4671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EB3BD-0631-479A-8439-DBB1554C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0F32-3495-4F28-B8A3-885C52B7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48088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5C2B4-3DDF-45B5-8078-6190ECCD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65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0068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6458E-33A2-4C77-A0F4-0F50A05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38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Ground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077FC-CB70-4596-9703-281B1A09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48088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B8A2F-DFBB-4E96-BF29-406DA25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9000"/>
            <a:ext cx="165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5C92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7AB27-0571-4A3B-84A0-47251C0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Govern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2E302-95AF-45C8-B9F8-5EEC1F71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8088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D4"/>
          </a:solidFill>
          <a:ln xmlns:a="http://schemas.openxmlformats.org/drawingml/2006/main" w="0">
            <a:solidFill>
              <a:srgbClr val="C2D4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DA87A-0A7B-47FB-9FC8-B450514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165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133"/>
          </a:solidFill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169E6-B2EE-4943-87F3-06822A3C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FFFFFF"/>
                </a:solidFill>
                <a:latin typeface="Oracle Sans"/>
                <a:ea typeface="Oracle Sans"/>
                <a:cs typeface="Oracle Sans"/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1E94-3238-4BC9-BFE6-6678962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DE8E8"/>
                </a:solidFill>
                <a:latin typeface="Oracle Sans"/>
                <a:ea typeface="Oracle Sans"/>
                <a:cs typeface="Oracle Sans"/>
              </a:defRPr>
            </a:pPr>
            <a:r>
              <a:rPr sz="1875" b="1">
                <a:solidFill>
                  <a:srgbClr val="DDE8E8"/>
                </a:solidFill>
                <a:latin typeface="Oracle Sans"/>
                <a:ea typeface="Oracle Sans"/>
                <a:cs typeface="Oracle Sans"/>
              </a:rPr>
              <a:t>Play the demo. Inspect the SQL. Run the notebooks. Adapt the harness.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044A1-D401-41A8-80F3-E80F6533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816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180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SQL decides what happened. The model decides how to say it. The harness decides whether it is allowed to say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D8402-35D5-4337-809C-9F146D0D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0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Oracle AI Database | Save the Wildlife agent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BFEF1-EA93-473E-B766-D244C7DF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defRPr>
            </a:pPr>
            <a:r>
              <a:rPr sz="750" b="1">
                <a:solidFill>
                  <a:srgbClr val="C2D4D4"/>
                </a:solidFill>
                <a:latin typeface="Oracle Sans"/>
                <a:ea typeface="Oracle Sans"/>
                <a:cs typeface="Oracle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0695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2026-06-19T22:05:56.4020000Z</dcterms:created>
  <dcterms:modified xsi:type="dcterms:W3CDTF">2026-06-19T22:05:56.4020000Z</dcterms:modified>
</coreProperties>
</file>